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2" r:id="rId10"/>
    <p:sldId id="265" r:id="rId11"/>
    <p:sldId id="273" r:id="rId12"/>
    <p:sldId id="266" r:id="rId13"/>
    <p:sldId id="279" r:id="rId14"/>
    <p:sldId id="268" r:id="rId15"/>
    <p:sldId id="274" r:id="rId16"/>
    <p:sldId id="278" r:id="rId17"/>
    <p:sldId id="269" r:id="rId18"/>
    <p:sldId id="277" r:id="rId19"/>
    <p:sldId id="270" r:id="rId20"/>
    <p:sldId id="276" r:id="rId21"/>
    <p:sldId id="271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73152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1371600" algn="l"/>
              </a:tabLst>
            </a:pPr>
            <a:r>
              <a:rPr lang="en-US" sz="2000" b="1" dirty="0">
                <a:latin typeface="Arial" pitchFamily="34" charset="0"/>
                <a:ea typeface="Times New Roman" pitchFamily="18" charset="0"/>
              </a:rPr>
              <a:t>What is prescription?</a:t>
            </a:r>
            <a:endParaRPr lang="en-US" sz="2800" b="1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              </a:t>
            </a:r>
            <a:r>
              <a:rPr lang="en-US" sz="2000" b="1" dirty="0">
                <a:latin typeface="Arial" pitchFamily="34" charset="0"/>
                <a:ea typeface="Times New Roman" pitchFamily="18" charset="0"/>
              </a:rPr>
              <a:t>Parts of prescription</a:t>
            </a:r>
            <a:endParaRPr lang="en-US" sz="2800" b="1" dirty="0">
              <a:latin typeface="Arial" pitchFamily="34" charset="0"/>
            </a:endParaRPr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Superscription</a:t>
            </a:r>
            <a:endParaRPr lang="en-US" sz="2800" dirty="0">
              <a:latin typeface="Arial" pitchFamily="34" charset="0"/>
            </a:endParaRPr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Inscription</a:t>
            </a:r>
            <a:endParaRPr lang="en-US" sz="2800" dirty="0">
              <a:latin typeface="Arial" pitchFamily="34" charset="0"/>
            </a:endParaRPr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Subscription</a:t>
            </a:r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</a:rPr>
              <a:t>Transcription </a:t>
            </a:r>
            <a:endParaRPr lang="en-US" dirty="0">
              <a:latin typeface="Arial" pitchFamily="34" charset="0"/>
            </a:endParaRPr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Signature</a:t>
            </a:r>
            <a:endParaRPr lang="en-US" sz="28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                </a:t>
            </a:r>
            <a:r>
              <a:rPr lang="en-US" sz="2000" b="1" dirty="0">
                <a:latin typeface="Arial" pitchFamily="34" charset="0"/>
                <a:ea typeface="Times New Roman" pitchFamily="18" charset="0"/>
              </a:rPr>
              <a:t>Superscription-</a:t>
            </a:r>
            <a:r>
              <a:rPr lang="en-US" sz="2000" dirty="0">
                <a:latin typeface="Arial" pitchFamily="34" charset="0"/>
                <a:ea typeface="Times New Roman" pitchFamily="18" charset="0"/>
              </a:rPr>
              <a:t> it includes name, age, sex,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 				address</a:t>
            </a:r>
            <a:endParaRPr lang="en-US" sz="28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                               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- </a:t>
            </a:r>
            <a:r>
              <a:rPr lang="en-US" sz="2000" dirty="0">
                <a:latin typeface="Arial" pitchFamily="34" charset="0"/>
                <a:ea typeface="Times New Roman" pitchFamily="18" charset="0"/>
              </a:rPr>
              <a:t>It also includes “</a:t>
            </a:r>
            <a:r>
              <a:rPr lang="en-US" sz="2000" dirty="0" err="1">
                <a:latin typeface="Arial" pitchFamily="34" charset="0"/>
                <a:ea typeface="Times New Roman" pitchFamily="18" charset="0"/>
              </a:rPr>
              <a:t>Rj</a:t>
            </a:r>
            <a:r>
              <a:rPr lang="en-US" sz="2000" dirty="0">
                <a:latin typeface="Arial" pitchFamily="34" charset="0"/>
                <a:ea typeface="Times New Roman" pitchFamily="18" charset="0"/>
              </a:rPr>
              <a:t>”(take thou)</a:t>
            </a:r>
            <a:endParaRPr lang="en-US" sz="2800" dirty="0">
              <a:latin typeface="Arial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   </a:t>
            </a:r>
            <a:r>
              <a:rPr lang="en-US" sz="2000" b="1" dirty="0">
                <a:latin typeface="Arial" pitchFamily="34" charset="0"/>
                <a:ea typeface="Times New Roman" pitchFamily="18" charset="0"/>
              </a:rPr>
              <a:t>Inscription</a:t>
            </a:r>
            <a:r>
              <a:rPr lang="en-US" sz="2000" dirty="0">
                <a:latin typeface="Arial" pitchFamily="34" charset="0"/>
                <a:ea typeface="Times New Roman" pitchFamily="18" charset="0"/>
              </a:rPr>
              <a:t>: </a:t>
            </a:r>
            <a:endParaRPr lang="en-US" sz="2800" dirty="0">
              <a:latin typeface="Arial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		      1)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Base/active </a:t>
            </a:r>
            <a:r>
              <a:rPr lang="en-US" sz="2000" dirty="0">
                <a:latin typeface="Arial" pitchFamily="34" charset="0"/>
                <a:ea typeface="Times New Roman" pitchFamily="18" charset="0"/>
              </a:rPr>
              <a:t>ingredient</a:t>
            </a:r>
            <a:endParaRPr lang="en-US" sz="2800" dirty="0">
              <a:latin typeface="Arial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		      2) Adjuvant</a:t>
            </a:r>
            <a:endParaRPr lang="en-US" sz="2800" dirty="0">
              <a:latin typeface="Arial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		      3)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Corrective</a:t>
            </a:r>
            <a:endParaRPr lang="en-US" sz="2800" dirty="0">
              <a:latin typeface="Arial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		      4) Vehicle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b="1" dirty="0">
                <a:latin typeface="Arial" pitchFamily="34" charset="0"/>
              </a:rPr>
              <a:t>Subscription</a:t>
            </a:r>
            <a:r>
              <a:rPr lang="en-US" sz="2000" dirty="0">
                <a:latin typeface="Arial" pitchFamily="34" charset="0"/>
              </a:rPr>
              <a:t>- it is the direction to the pharmacist.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sz="2000" b="1" dirty="0">
                <a:latin typeface="Arial" pitchFamily="34" charset="0"/>
              </a:rPr>
              <a:t>Transcription</a:t>
            </a:r>
            <a:r>
              <a:rPr lang="en-US" sz="2000" dirty="0">
                <a:latin typeface="Arial" pitchFamily="34" charset="0"/>
              </a:rPr>
              <a:t>- it is the instruction to the patient.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endParaRPr lang="en-US" sz="2000" dirty="0">
              <a:latin typeface="Arial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031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0"/>
            <a:ext cx="7848600" cy="666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en-US" b="1" dirty="0" smtClean="0">
                <a:latin typeface="Arial" pitchFamily="34" charset="0"/>
                <a:ea typeface="Times New Roman" pitchFamily="18" charset="0"/>
              </a:rPr>
              <a:t>Prescribe </a:t>
            </a:r>
            <a:r>
              <a:rPr lang="en-US" b="1" dirty="0">
                <a:latin typeface="Arial" pitchFamily="34" charset="0"/>
                <a:ea typeface="Times New Roman" pitchFamily="18" charset="0"/>
              </a:rPr>
              <a:t>for an adult suffering from an acute attack of Bronchial asthma</a:t>
            </a:r>
            <a:r>
              <a:rPr lang="en-US" dirty="0" smtClean="0">
                <a:latin typeface="Arial" pitchFamily="34" charset="0"/>
                <a:ea typeface="Times New Roman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Arial" pitchFamily="34" charset="0"/>
              <a:ea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Name-                                                             </a:t>
            </a:r>
            <a:r>
              <a:rPr lang="en-US" sz="2400" baseline="-25000" dirty="0"/>
              <a:t>Dr. 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Harish</a:t>
            </a:r>
            <a:endParaRPr lang="en-US" sz="2000" baseline="-25000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aseline="-25000" dirty="0" smtClean="0"/>
              <a:t>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Age-                                                                 </a:t>
            </a:r>
            <a:r>
              <a:rPr lang="en-US" sz="1400" dirty="0" smtClean="0">
                <a:latin typeface="Arial" pitchFamily="34" charset="0"/>
                <a:ea typeface="Times New Roman" pitchFamily="18" charset="0"/>
              </a:rPr>
              <a:t> MBBS,MD</a:t>
            </a:r>
            <a:r>
              <a:rPr lang="en-US" sz="1200" dirty="0" smtClean="0">
                <a:latin typeface="Arial" pitchFamily="34" charset="0"/>
                <a:ea typeface="Times New Roman" pitchFamily="18" charset="0"/>
              </a:rPr>
              <a:t>   </a:t>
            </a:r>
            <a:endParaRPr lang="en-US" sz="2000" dirty="0">
              <a:latin typeface="Arial" pitchFamily="34" charset="0"/>
              <a:ea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Sex-                                                             </a:t>
            </a:r>
            <a:r>
              <a:rPr lang="en-US" sz="1400" dirty="0" err="1" smtClean="0">
                <a:latin typeface="Arial" pitchFamily="34" charset="0"/>
                <a:ea typeface="Times New Roman" pitchFamily="18" charset="0"/>
              </a:rPr>
              <a:t>Bapuji</a:t>
            </a:r>
            <a:r>
              <a:rPr lang="en-US" sz="1400" dirty="0" smtClean="0">
                <a:latin typeface="Arial" pitchFamily="34" charset="0"/>
                <a:ea typeface="Times New Roman" pitchFamily="18" charset="0"/>
              </a:rPr>
              <a:t> Hospital, </a:t>
            </a:r>
            <a:r>
              <a:rPr lang="en-US" sz="1400" dirty="0" err="1" smtClean="0">
                <a:latin typeface="Arial" pitchFamily="34" charset="0"/>
                <a:ea typeface="Times New Roman" pitchFamily="18" charset="0"/>
              </a:rPr>
              <a:t>Davangere</a:t>
            </a:r>
            <a:r>
              <a:rPr lang="en-US" sz="1400" dirty="0" smtClean="0">
                <a:latin typeface="Arial" pitchFamily="34" charset="0"/>
                <a:ea typeface="Times New Roman" pitchFamily="18" charset="0"/>
              </a:rPr>
              <a:t>.</a:t>
            </a:r>
            <a:endParaRPr lang="en-US" sz="2000" dirty="0">
              <a:latin typeface="Arial" pitchFamily="34" charset="0"/>
              <a:ea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Address-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aseline="-25000" dirty="0" smtClean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/>
              <a:t>R</a:t>
            </a:r>
            <a:r>
              <a:rPr lang="en-US" sz="2000" b="1" baseline="-25000" dirty="0" smtClean="0"/>
              <a:t>x</a:t>
            </a:r>
            <a:endParaRPr lang="en-US" sz="2000" b="1" dirty="0" smtClean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-Salbutamol 5mg/ml solution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	 Dispense 1 vial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Nebulize 1ml diluted with saline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       (followed by)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-Salbutamol Inhaler 100mcg/md(metered dose)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	 Dispense 1 canister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  100-200mcg to be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inhaled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4 times daily.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-Inj. Methyl Prednisolone 500mg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	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Dispense 1 vial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 0.5mg/kg given IV every 6 </a:t>
            </a:r>
            <a:r>
              <a:rPr lang="en-US" sz="2000" dirty="0" err="1" smtClean="0">
                <a:latin typeface="Arial" pitchFamily="34" charset="0"/>
                <a:ea typeface="Times New Roman" pitchFamily="18" charset="0"/>
              </a:rPr>
              <a:t>hrs</a:t>
            </a:r>
            <a:endParaRPr lang="en-US" sz="2000" dirty="0" smtClean="0">
              <a:latin typeface="Arial" pitchFamily="34" charset="0"/>
              <a:ea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                                                            Doctor’s signature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Date: 13/10/2012                                </a:t>
            </a:r>
            <a:r>
              <a:rPr lang="en-US" sz="2000" dirty="0" err="1" smtClean="0">
                <a:latin typeface="Arial" pitchFamily="34" charset="0"/>
                <a:ea typeface="Times New Roman" pitchFamily="18" charset="0"/>
              </a:rPr>
              <a:t>Reg.No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-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Place: </a:t>
            </a:r>
            <a:r>
              <a:rPr lang="en-US" sz="2000" dirty="0" err="1" smtClean="0">
                <a:latin typeface="Arial" pitchFamily="34" charset="0"/>
                <a:ea typeface="Times New Roman" pitchFamily="18" charset="0"/>
              </a:rPr>
              <a:t>Davangere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.         </a:t>
            </a:r>
            <a:endParaRPr lang="en-US" sz="2000" dirty="0">
              <a:latin typeface="Arial" pitchFamily="34" charset="0"/>
              <a:ea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539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73914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itchFamily="34" charset="0"/>
                <a:ea typeface="Times New Roman"/>
                <a:cs typeface="Arial" pitchFamily="34" charset="0"/>
              </a:rPr>
              <a:t>2</a:t>
            </a:r>
            <a:r>
              <a:rPr lang="en-US" sz="2000" b="1" dirty="0" smtClean="0">
                <a:latin typeface="Arial" pitchFamily="34" charset="0"/>
                <a:ea typeface="Times New Roman"/>
                <a:cs typeface="Arial" pitchFamily="34" charset="0"/>
              </a:rPr>
              <a:t>) </a:t>
            </a:r>
            <a:r>
              <a:rPr lang="en-US" sz="2000" b="1" dirty="0">
                <a:latin typeface="Arial" pitchFamily="34" charset="0"/>
                <a:ea typeface="Times New Roman"/>
                <a:cs typeface="Arial" pitchFamily="34" charset="0"/>
              </a:rPr>
              <a:t>Prescribe for an old man suffering from moderate hypertension.</a:t>
            </a:r>
          </a:p>
          <a:p>
            <a:endParaRPr lang="en-US" sz="3200" b="1" dirty="0">
              <a:latin typeface="Arial" pitchFamily="34" charset="0"/>
              <a:ea typeface="Times New Roman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     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TAB </a:t>
            </a:r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AMLODIPINE 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5mg</a:t>
            </a:r>
            <a:endParaRPr lang="en-US" sz="3200" dirty="0">
              <a:latin typeface="Arial" pitchFamily="34" charset="0"/>
              <a:ea typeface="Times New Roman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     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Dispense 30 </a:t>
            </a:r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tablets.   </a:t>
            </a:r>
            <a:endParaRPr lang="en-US" sz="2000" dirty="0" smtClean="0">
              <a:latin typeface="Arial" pitchFamily="34" charset="0"/>
              <a:ea typeface="Times New Roman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    </a:t>
            </a:r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One tablet to be taken once daily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.</a:t>
            </a:r>
          </a:p>
          <a:p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                     OR</a:t>
            </a:r>
          </a:p>
          <a:p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    TAB HYDROCHLOROTHIAZIDE 12.5mg</a:t>
            </a:r>
          </a:p>
          <a:p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     Dispense 30 tablets</a:t>
            </a:r>
          </a:p>
          <a:p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     One tablet to be taken once </a:t>
            </a:r>
            <a:r>
              <a:rPr lang="en-US" sz="2000" dirty="0" smtClean="0">
                <a:latin typeface="Arial" pitchFamily="34" charset="0"/>
                <a:ea typeface="Times New Roman"/>
                <a:cs typeface="Arial" pitchFamily="34" charset="0"/>
              </a:rPr>
              <a:t>daily                                                           Case </a:t>
            </a:r>
            <a:r>
              <a:rPr lang="en-US" sz="2000" dirty="0">
                <a:latin typeface="Arial" pitchFamily="34" charset="0"/>
                <a:ea typeface="Times New Roman"/>
                <a:cs typeface="Arial" pitchFamily="34" charset="0"/>
              </a:rPr>
              <a:t>to be reviewed after one week.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37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81000"/>
            <a:ext cx="7543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Arial" pitchFamily="34" charset="0"/>
                <a:ea typeface="Times New Roman" pitchFamily="18" charset="0"/>
              </a:rPr>
              <a:t>3</a:t>
            </a:r>
            <a:r>
              <a:rPr lang="en-US" sz="2000" b="1" dirty="0" smtClean="0">
                <a:latin typeface="Arial" pitchFamily="34" charset="0"/>
                <a:ea typeface="Times New Roman" pitchFamily="18" charset="0"/>
              </a:rPr>
              <a:t>) </a:t>
            </a:r>
            <a:r>
              <a:rPr lang="en-US" sz="2000" b="1" dirty="0">
                <a:latin typeface="Arial" pitchFamily="34" charset="0"/>
                <a:ea typeface="Times New Roman" pitchFamily="18" charset="0"/>
              </a:rPr>
              <a:t>Prescribe for a patient with </a:t>
            </a:r>
            <a:r>
              <a:rPr lang="en-US" sz="2000" b="1" dirty="0" smtClean="0">
                <a:latin typeface="Arial" pitchFamily="34" charset="0"/>
                <a:ea typeface="Times New Roman" pitchFamily="18" charset="0"/>
              </a:rPr>
              <a:t>moderate </a:t>
            </a:r>
            <a:r>
              <a:rPr lang="en-US" sz="2000" b="1" dirty="0">
                <a:latin typeface="Arial" pitchFamily="34" charset="0"/>
                <a:ea typeface="Times New Roman" pitchFamily="18" charset="0"/>
              </a:rPr>
              <a:t>Congestive cardiac failure</a:t>
            </a:r>
            <a:r>
              <a:rPr lang="en-US" sz="2000" dirty="0">
                <a:latin typeface="Arial" pitchFamily="34" charset="0"/>
                <a:ea typeface="Times New Roman" pitchFamily="18" charset="0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TAB. ENALAPRIL 2.5mg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Arial" pitchFamily="34" charset="0"/>
              </a:rPr>
              <a:t>      </a:t>
            </a:r>
            <a:r>
              <a:rPr lang="en-US" sz="2000" dirty="0">
                <a:latin typeface="Arial" pitchFamily="34" charset="0"/>
              </a:rPr>
              <a:t>Send 7 tablets.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</a:rPr>
              <a:t>      </a:t>
            </a:r>
            <a:r>
              <a:rPr lang="en-US" sz="2000" dirty="0" smtClean="0">
                <a:latin typeface="Arial" pitchFamily="34" charset="0"/>
              </a:rPr>
              <a:t>One </a:t>
            </a:r>
            <a:r>
              <a:rPr lang="en-US" sz="2000" dirty="0">
                <a:latin typeface="Arial" pitchFamily="34" charset="0"/>
              </a:rPr>
              <a:t>tablet taken once daily</a:t>
            </a:r>
            <a:r>
              <a:rPr lang="en-US" sz="2000" dirty="0" smtClean="0">
                <a:latin typeface="Arial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TAB. FRUSEMIDE 40mg.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Send such 7 tablets.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</a:rPr>
              <a:t>       ½ tablet (20mg) taken once daily early morning</a:t>
            </a:r>
            <a:r>
              <a:rPr lang="en-US" sz="2000" dirty="0" smtClean="0">
                <a:latin typeface="Arial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</a:rPr>
              <a:t>      TAB. </a:t>
            </a:r>
            <a:r>
              <a:rPr lang="en-US" sz="2000" dirty="0" smtClean="0">
                <a:latin typeface="Arial" pitchFamily="34" charset="0"/>
              </a:rPr>
              <a:t>METOPROLOL </a:t>
            </a:r>
            <a:r>
              <a:rPr lang="en-US" sz="2000" dirty="0">
                <a:latin typeface="Arial" pitchFamily="34" charset="0"/>
              </a:rPr>
              <a:t>100mg</a:t>
            </a:r>
            <a:endParaRPr lang="en-US" sz="28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 Send 14 tablets.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 One tablet taken twice daily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Arial" pitchFamily="34" charset="0"/>
              <a:ea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  <a:ea typeface="Times New Roman" pitchFamily="18" charset="0"/>
              </a:rPr>
              <a:t>      Case to be reviewed after one </a:t>
            </a:r>
            <a:r>
              <a:rPr lang="en-US" sz="2000" dirty="0" smtClean="0">
                <a:latin typeface="Arial" pitchFamily="34" charset="0"/>
                <a:ea typeface="Times New Roman" pitchFamily="18" charset="0"/>
              </a:rPr>
              <a:t>week. </a:t>
            </a:r>
            <a:endParaRPr lang="en-US" sz="2000" dirty="0">
              <a:latin typeface="Arial" pitchFamily="34" charset="0"/>
              <a:ea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6266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7848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4) Prescribe for a patient complaining of Angina on exertion.</a:t>
            </a:r>
          </a:p>
          <a:p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TAB ISOSORBIDE DINITRATE 5mg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Dispense 2 sublingual tablets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One tab to be placed sublingually during attack.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	         (followed by)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-TAB ISOSORBIDE MONONITRATE 20mg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Dispense 30 tabs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One tablet to be taken twice daily.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910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1" y="685800"/>
            <a:ext cx="83058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5) Prescribe for a patient with peptic ulcer due to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H.pylori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CAP. OMEPRAZOLE-20mg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Dispense 30 tablets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One tablet to be taken twice daily for 14 days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-TABLET CLARITHROMYCIN 500mg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Dispense 30 tablets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One tablet to be taken twice daily for 14 days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-CAP.AMOXYCILLIN 500mg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Dispense 30 capsules.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One capsule to be taken twice daily for 14 days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Continue omeprazole for further 6 weeks.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8470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1000"/>
            <a:ext cx="78486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Prescribe for a patient with Bacillary dysentery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TAB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 NORFLOXACIN 400mg (OR) TAB. CIPROFLOXACIN 500 mg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      Send such 10 tablets.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      One tablet to be taken BID for 5 days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     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TAB. HYOSCINE BUTYL BROMIDE 10mg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       Send 10 tablets.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       One tablet to be taken TID daily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     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Take plenty of fluids.</a:t>
            </a:r>
          </a:p>
        </p:txBody>
      </p:sp>
    </p:spTree>
    <p:extLst>
      <p:ext uri="{BB962C8B-B14F-4D97-AF65-F5344CB8AC3E}">
        <p14:creationId xmlns:p14="http://schemas.microsoft.com/office/powerpoint/2010/main" xmlns="" val="428051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1" y="457200"/>
            <a:ext cx="7924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7) Prescribe for a patient of maturity onset diabetes mellitus uncontrolled by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monotherapy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-TAB GLIPIZIDE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5mg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Dispense 60 tablets.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One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tablet to be taken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twice daily before food.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-TAB METFORMIN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500mg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Dispense 60 tablets.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One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tablet to be taken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twice daily after food.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369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838200"/>
            <a:ext cx="8001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8) Prescribe for a patient with severe anaphylactic shock due to procaine penicillin injection.</a:t>
            </a:r>
          </a:p>
          <a:p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-INJ. ADRENALINE HYDROCHLORIDE 1:1000-1mg/ml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Dispense 1 ampoule.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0.5ml to be injected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IM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-INJ. METHYL PREDNISOLONE 500mg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Dispense 1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vial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0.5mg/kg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given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IV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-INJ. PHENERAMINE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MALEATE 22.75mg/ml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Dispense 1 ampoule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1ml to be injected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IV.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62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382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9) Prescribe for a patient suffering from Status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Epilepticus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INJ.LORAZEPAM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mg/ml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Dispense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2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ampoules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ml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to be injected slow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IV( at the rate of 2mg/min)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To be repeated after 10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mins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if needed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INJ FOSPHENYTOIN 100mg/2ml 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Dispense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vials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15mg/kg to be infused slow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IV over 30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mins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(not to exceed 150 mg/min)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192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81000"/>
            <a:ext cx="8001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 startAt="10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Prescribe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for a patient suffering from Iron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deficiency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anemia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due to hookworm infestation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TAB.ALBENDAZOLE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400mg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Dispense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one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tablet.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One tablet to be taken at bedtime.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TAB FERROUS SULPHATE 200mg 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 Dispense 100 tablets.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 One tablet thrice daily after food.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TAB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 ASCORBIC ACID 100mg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 Dispense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30 tablets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 One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tablet to be taken once daily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Review after 3 months.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23884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4800"/>
            <a:ext cx="7848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11) Prescribe for a patient suffering from insomnia due to toothache.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TAB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IBUPROFEN 400mg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Send 10 tablets.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One tablet to be taken thrice daily after food for 3 days.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TAB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DIAZEPAM 10mg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Dispense 5 tablets.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One tablet once daily at bed time.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-Local application of CLOVE OIL.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156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228600"/>
            <a:ext cx="7924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" pitchFamily="34" charset="0"/>
                <a:cs typeface="Arial" pitchFamily="34" charset="0"/>
              </a:rPr>
              <a:t>12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) Prescribe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for a patient suffering from acute intractable pain due to fractured mandible.</a:t>
            </a:r>
          </a:p>
          <a:p>
            <a:endParaRPr lang="en-US" sz="3200" b="1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-INJ. PETHIDINE 100mg/ml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Dispense 2 ampoules.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1ml to be injected slow IV twice daily.</a:t>
            </a:r>
          </a:p>
        </p:txBody>
      </p:sp>
    </p:spTree>
    <p:extLst>
      <p:ext uri="{BB962C8B-B14F-4D97-AF65-F5344CB8AC3E}">
        <p14:creationId xmlns:p14="http://schemas.microsoft.com/office/powerpoint/2010/main" xmlns="" val="193734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1000"/>
            <a:ext cx="84582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13) Prescribe for a patient suffering from Gingival abscess.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-INJ. PROCAINE PENICILLIN 4 lakh units.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Dispense 5 vials.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Contents of 1 vial to be injected IM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daily for 5 days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-TAB DICLOFENAC SODIUM 50mg.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  Dispense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10 tabs.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 1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tablet to be taken twice daily after food.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-CHLOROXYLENOL mouth wash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Dispense 1 bottle.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5ml to be diluted in 100ml of water and mouth rinsed 1-3 times daily.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553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28600"/>
            <a:ext cx="8001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itchFamily="34" charset="0"/>
                <a:cs typeface="Arial" pitchFamily="34" charset="0"/>
              </a:rPr>
              <a:t>14) Prescribe for a patient with oral thrush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3600" b="1" dirty="0">
              <a:latin typeface="Arial" pitchFamily="34" charset="0"/>
              <a:cs typeface="Arial" pitchFamily="34" charset="0"/>
            </a:endParaRPr>
          </a:p>
          <a:p>
            <a:r>
              <a:rPr lang="en-US" sz="3600" dirty="0">
                <a:latin typeface="Arial" pitchFamily="34" charset="0"/>
                <a:cs typeface="Arial" pitchFamily="34" charset="0"/>
              </a:rPr>
              <a:t>-CLOTRIMAZOLE TROCHE 10mg</a:t>
            </a: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 Dispense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56 troches.</a:t>
            </a: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 One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troche to be kept in mouth until dissolution 4 times a day for 14 days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3600" dirty="0" smtClean="0">
              <a:latin typeface="Arial" pitchFamily="34" charset="0"/>
              <a:cs typeface="Arial" pitchFamily="34" charset="0"/>
            </a:endParaRPr>
          </a:p>
          <a:p>
            <a:endParaRPr lang="en-US" sz="3600" dirty="0">
              <a:latin typeface="Arial" pitchFamily="34" charset="0"/>
              <a:cs typeface="Arial" pitchFamily="34" charset="0"/>
            </a:endParaRPr>
          </a:p>
          <a:p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267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685800"/>
            <a:ext cx="8686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" pitchFamily="34" charset="0"/>
                <a:cs typeface="Arial" pitchFamily="34" charset="0"/>
              </a:rPr>
              <a:t>15) Prescribe for a patient with hypersensitive dentine.</a:t>
            </a:r>
          </a:p>
          <a:p>
            <a:endParaRPr lang="en-US" sz="3200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-POTASSIUM NITRATE 5% tooth paste.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Use the paste to brush teeth 2-3 times daily</a:t>
            </a:r>
          </a:p>
        </p:txBody>
      </p:sp>
    </p:spTree>
    <p:extLst>
      <p:ext uri="{BB962C8B-B14F-4D97-AF65-F5344CB8AC3E}">
        <p14:creationId xmlns:p14="http://schemas.microsoft.com/office/powerpoint/2010/main" xmlns="" val="262479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41999"/>
            <a:ext cx="83058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latin typeface="Arial" pitchFamily="34" charset="0"/>
              <a:cs typeface="Arial" pitchFamily="34" charset="0"/>
            </a:endParaRPr>
          </a:p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16) Prescribe for a patient with herpetic gingivitis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3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-TAB FAMCICLOVIR 500mg</a:t>
            </a: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Dispense 14 tablets.</a:t>
            </a: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One tablet twice daily for 7 days.</a:t>
            </a: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-COMPOUND IODINE paint applied locally 2-3 times daily.</a:t>
            </a:r>
          </a:p>
          <a:p>
            <a:endParaRPr lang="en-US" sz="3600" dirty="0">
              <a:latin typeface="Arial" pitchFamily="34" charset="0"/>
              <a:cs typeface="Arial" pitchFamily="34" charset="0"/>
            </a:endParaRPr>
          </a:p>
          <a:p>
            <a:endParaRPr lang="en-US" sz="3600" dirty="0" smtClean="0">
              <a:latin typeface="Arial" pitchFamily="34" charset="0"/>
              <a:cs typeface="Arial" pitchFamily="34" charset="0"/>
            </a:endParaRPr>
          </a:p>
          <a:p>
            <a:endParaRPr lang="en-US" sz="3600" dirty="0" smtClean="0">
              <a:latin typeface="Arial" pitchFamily="34" charset="0"/>
              <a:cs typeface="Arial" pitchFamily="34" charset="0"/>
            </a:endParaRPr>
          </a:p>
          <a:p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10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914400"/>
            <a:ext cx="7696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" pitchFamily="34" charset="0"/>
                <a:cs typeface="Arial" pitchFamily="34" charset="0"/>
              </a:rPr>
              <a:t>17) Prescribe for a patient suffering from Scurvy.</a:t>
            </a:r>
          </a:p>
          <a:p>
            <a:endParaRPr lang="en-US" sz="3200" b="1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-TAB ASCORBIC ACID 500mg.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Dispense 30 chewable tablets.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One tablet to be chewed twice daily.</a:t>
            </a:r>
          </a:p>
          <a:p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361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006" y="463075"/>
            <a:ext cx="8305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Arial" pitchFamily="34" charset="0"/>
                <a:cs typeface="Arial" pitchFamily="34" charset="0"/>
              </a:rPr>
              <a:t>18)Prescribe for a patient with bleeding due to tooth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extraction  </a:t>
            </a:r>
          </a:p>
          <a:p>
            <a:endParaRPr lang="en-US" sz="36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INJ ADRENALINE 1mg/ 10ml(1: 10,000)</a:t>
            </a:r>
          </a:p>
          <a:p>
            <a:pPr lvl="1"/>
            <a:r>
              <a:rPr lang="en-US" sz="3200" dirty="0" smtClean="0">
                <a:latin typeface="Arial" pitchFamily="34" charset="0"/>
                <a:cs typeface="Arial" pitchFamily="34" charset="0"/>
              </a:rPr>
              <a:t>-Sterile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cotton dipped in 1:10,000 adrenaline solution to be packed into the tooth socket.</a:t>
            </a:r>
          </a:p>
          <a:p>
            <a:endParaRPr lang="en-US" sz="3600" dirty="0">
              <a:latin typeface="Arial" pitchFamily="34" charset="0"/>
              <a:cs typeface="Arial" pitchFamily="34" charset="0"/>
            </a:endParaRPr>
          </a:p>
          <a:p>
            <a:endParaRPr lang="en-US" sz="3600" dirty="0" smtClean="0">
              <a:latin typeface="Arial" pitchFamily="34" charset="0"/>
              <a:cs typeface="Arial" pitchFamily="34" charset="0"/>
            </a:endParaRPr>
          </a:p>
          <a:p>
            <a:endParaRPr lang="en-US" sz="3600" dirty="0">
              <a:latin typeface="Arial" pitchFamily="34" charset="0"/>
              <a:cs typeface="Arial" pitchFamily="34" charset="0"/>
            </a:endParaRPr>
          </a:p>
          <a:p>
            <a:endParaRPr lang="en-US" sz="36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574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852202"/>
            <a:ext cx="8077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itchFamily="34" charset="0"/>
                <a:cs typeface="Arial" pitchFamily="34" charset="0"/>
              </a:rPr>
              <a:t>19) Prescribe for a patient with halitosis.</a:t>
            </a:r>
          </a:p>
          <a:p>
            <a:endParaRPr lang="en-US" sz="3600" b="1" dirty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n-US" sz="3600" dirty="0" err="1">
                <a:latin typeface="Arial" pitchFamily="34" charset="0"/>
                <a:cs typeface="Arial" pitchFamily="34" charset="0"/>
              </a:rPr>
              <a:t>Chlorhexidine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mouth wash</a:t>
            </a:r>
          </a:p>
          <a:p>
            <a:pPr marL="742950" lvl="1" indent="-285750">
              <a:buFontTx/>
              <a:buChar char="-"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15-30ml of diluted 1:1 solution to be rinsed 2-3 times daily after food.</a:t>
            </a:r>
          </a:p>
        </p:txBody>
      </p:sp>
    </p:spTree>
    <p:extLst>
      <p:ext uri="{BB962C8B-B14F-4D97-AF65-F5344CB8AC3E}">
        <p14:creationId xmlns:p14="http://schemas.microsoft.com/office/powerpoint/2010/main" xmlns="" val="50975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838200"/>
            <a:ext cx="731084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itchFamily="34" charset="0"/>
                <a:cs typeface="Arial" pitchFamily="34" charset="0"/>
              </a:rPr>
              <a:t>20) Prescribe for a patient with </a:t>
            </a:r>
            <a:r>
              <a:rPr lang="en-US" sz="3200" b="1" dirty="0" err="1">
                <a:latin typeface="Arial" pitchFamily="34" charset="0"/>
                <a:cs typeface="Arial" pitchFamily="34" charset="0"/>
              </a:rPr>
              <a:t>xerostomia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 due to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radiotherapy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of neck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3200" b="1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3200" dirty="0" smtClean="0">
                <a:latin typeface="Arial" pitchFamily="34" charset="0"/>
                <a:cs typeface="Arial" pitchFamily="34" charset="0"/>
              </a:rPr>
              <a:t>-TAB CEVIMELINE 30mg</a:t>
            </a:r>
          </a:p>
          <a:p>
            <a:pPr lvl="1"/>
            <a:r>
              <a:rPr lang="en-US" sz="3200" dirty="0" smtClean="0">
                <a:latin typeface="Arial" pitchFamily="34" charset="0"/>
                <a:cs typeface="Arial" pitchFamily="34" charset="0"/>
              </a:rPr>
              <a:t>Dispense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20 tablets.</a:t>
            </a:r>
          </a:p>
          <a:p>
            <a:pPr lvl="1"/>
            <a:r>
              <a:rPr lang="en-US" sz="3200" dirty="0">
                <a:latin typeface="Arial" pitchFamily="34" charset="0"/>
                <a:cs typeface="Arial" pitchFamily="34" charset="0"/>
              </a:rPr>
              <a:t>1 tablet 3 times daily for 1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week</a:t>
            </a:r>
          </a:p>
          <a:p>
            <a:pPr lvl="1"/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174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838200"/>
            <a:ext cx="8153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" pitchFamily="34" charset="0"/>
                <a:cs typeface="Arial" pitchFamily="34" charset="0"/>
              </a:rPr>
              <a:t>21) Prophylaxis for dental caries.</a:t>
            </a:r>
          </a:p>
          <a:p>
            <a:endParaRPr lang="en-US" sz="3200" b="1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-SODIUM FLUORIDE containing tooth paste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Sufficient quantity of paste to be used to brush teeth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2-3 times daily after food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283119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264</TotalTime>
  <Words>981</Words>
  <Application>Microsoft Office PowerPoint</Application>
  <PresentationFormat>On-screen Show (4:3)</PresentationFormat>
  <Paragraphs>219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Metro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Client</dc:creator>
  <cp:lastModifiedBy>user</cp:lastModifiedBy>
  <cp:revision>79</cp:revision>
  <dcterms:created xsi:type="dcterms:W3CDTF">2006-08-16T00:00:00Z</dcterms:created>
  <dcterms:modified xsi:type="dcterms:W3CDTF">2018-10-27T11:12:23Z</dcterms:modified>
</cp:coreProperties>
</file>